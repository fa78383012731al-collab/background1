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2C5F8D"/>
                </a:solidFill>
              </a:defRPr>
            </a:pPr>
            <a:r>
              <a:t>الضغط التنافسي: قوى بورتر الخمسة</a:t>
            </a:r>
          </a:p>
        </p:txBody>
      </p:sp>
      <p:sp>
        <p:nvSpPr>
          <p:cNvPr id="4" name="Oval 3"/>
          <p:cNvSpPr/>
          <p:nvPr/>
        </p:nvSpPr>
        <p:spPr>
          <a:xfrm>
            <a:off x="5586984" y="3017520"/>
            <a:ext cx="1005840" cy="1005840"/>
          </a:xfrm>
          <a:prstGeom prst="ellipse">
            <a:avLst/>
          </a:prstGeom>
          <a:solidFill>
            <a:srgbClr val="2C5F8D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86984" y="32004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مستشفى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الشاعر الخاص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969264"/>
            <a:ext cx="3108960" cy="173736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3108960" cy="438912"/>
          </a:xfrm>
          <a:prstGeom prst="roundRect">
            <a:avLst/>
          </a:prstGeom>
          <a:solidFill>
            <a:srgbClr val="2C5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حدة المنافسة (3.5/5)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07592"/>
            <a:ext cx="3108960" cy="1344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100">
                <a:solidFill>
                  <a:srgbClr val="333333"/>
                </a:solidFill>
              </a:defRPr>
            </a:pPr>
            <a:r>
              <a:t>منافسة قوية بين 3 منشآت خاصة و6 حكومية حول السعر والموقع. الرقمنة هي المهرب الوحيد.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969264"/>
            <a:ext cx="3108960" cy="173736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914400"/>
            <a:ext cx="3108960" cy="438912"/>
          </a:xfrm>
          <a:prstGeom prst="roundRect">
            <a:avLst/>
          </a:prstGeom>
          <a:solidFill>
            <a:srgbClr val="4A8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قوة المشترين (4/5)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307592"/>
            <a:ext cx="3108960" cy="1344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8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100">
                <a:solidFill>
                  <a:srgbClr val="333333"/>
                </a:solidFill>
              </a:defRPr>
            </a:pPr>
            <a:r>
              <a:t>وعي المريض يرتفع، وحساسيته للجودة تتفوق على السعر في حال توفر التجربة الممتازة.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41664" y="2980944"/>
            <a:ext cx="3108960" cy="173736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0" y="2926080"/>
            <a:ext cx="3108960" cy="438912"/>
          </a:xfrm>
          <a:prstGeom prst="roundRect">
            <a:avLst/>
          </a:prstGeom>
          <a:solidFill>
            <a:srgbClr val="7C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قوة الموردين (3/5)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319272"/>
            <a:ext cx="3108960" cy="1344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B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100">
                <a:solidFill>
                  <a:srgbClr val="333333"/>
                </a:solidFill>
              </a:defRPr>
            </a:pPr>
            <a:r>
              <a:t>قوة تفاوضية عالية للكوادر الطبية المتخصصة.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41664" y="4992624"/>
            <a:ext cx="3108960" cy="173736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0" y="4937760"/>
            <a:ext cx="3108960" cy="438912"/>
          </a:xfrm>
          <a:prstGeom prst="round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الداخلون الجدد (3/5)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5330952"/>
            <a:ext cx="3108960" cy="1344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100">
                <a:solidFill>
                  <a:srgbClr val="333333"/>
                </a:solidFill>
              </a:defRPr>
            </a:pPr>
            <a:r>
              <a:t>حواجز دخول مالية عالية (30 مليون+)، لكن التهديد قادم من العيادات الرقمية.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" y="4992624"/>
            <a:ext cx="3108960" cy="173736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3108960" cy="43891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المنتجات البديلة (2.5/5)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330952"/>
            <a:ext cx="3108960" cy="1344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100">
                <a:solidFill>
                  <a:srgbClr val="333333"/>
                </a:solidFill>
              </a:defRPr>
            </a:pPr>
            <a:r>
              <a:t>الطب التقليدي والسفر للعلاج. المريض يفضل الرعاية المحلية إذا توفرت الجودة.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2377440.0" y="1783080.0"/>
            <a:ext cx="3209544.0" cy="1508760.0"/>
          </a:xfrm>
          <a:prstGeom prst="line">
            <a:avLst/>
          </a:prstGeom>
          <a:ln w="31750">
            <a:solidFill>
              <a:srgbClr val="2C5F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592824" y="1783080.0"/>
            <a:ext cx="3191256.0" cy="1508760.0"/>
          </a:xfrm>
          <a:prstGeom prst="line">
            <a:avLst/>
          </a:prstGeom>
          <a:ln w="31750">
            <a:solidFill>
              <a:srgbClr val="4A8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92824" y="3520440"/>
            <a:ext cx="3191256.0" cy="274320.0"/>
          </a:xfrm>
          <a:prstGeom prst="line">
            <a:avLst/>
          </a:prstGeom>
          <a:ln w="31750">
            <a:solidFill>
              <a:srgbClr val="7CB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92824" y="3749040"/>
            <a:ext cx="3191256.0" cy="2057400.0"/>
          </a:xfrm>
          <a:prstGeom prst="line">
            <a:avLst/>
          </a:prstGeom>
          <a:ln w="31750">
            <a:solidFill>
              <a:srgbClr val="5CB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377440.0" y="3749040"/>
            <a:ext cx="3209544.0" cy="2057400.0"/>
          </a:xfrm>
          <a:prstGeom prst="line">
            <a:avLst/>
          </a:prstGeom>
          <a:ln w="3175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